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360d307-273b-8eb1-e51d-d61b6dc11f1c}">
          <p14:sldIdLst>
            <p14:sldId id="256"/>
          </p14:sldIdLst>
        </p14:section>
        <p14:section name="Design" id="{c25d5ef5-d669-aae7-efdf-9e32b0a16ac4}">
          <p14:sldIdLst>
            <p14:sldId id="257"/>
            <p14:sldId id="258"/>
            <p14:sldId id="259"/>
          </p14:sldIdLst>
        </p14:section>
        <p14:section name="Results" id="{2cba7a42-aedb-5dce-4118-66bb18a0dba9}">
          <p14:sldIdLst>
            <p14:sldId id="260"/>
            <p14:sldId id="261"/>
          </p14:sldIdLst>
        </p14:section>
        <p14:section name="Demo" id="{98f40554-529e-7c85-78b3-b2a4b1a9f38c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486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53035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5895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1"/>
          <p:cNvSpPr/>
          <p:nvPr/>
        </p:nvSpPr>
        <p:spPr>
          <a:xfrm>
            <a:off x="6309360" y="-822960"/>
            <a:ext cx="3840480" cy="3840480"/>
          </a:xfrm>
          <a:prstGeom prst="ellipse">
            <a:avLst/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3" name="deco-2"/>
          <p:cNvSpPr/>
          <p:nvPr/>
        </p:nvSpPr>
        <p:spPr>
          <a:xfrm>
            <a:off x="7223760" y="2651760"/>
            <a:ext cx="2377440" cy="2377440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4" name="deco-3"/>
          <p:cNvSpPr/>
          <p:nvPr/>
        </p:nvSpPr>
        <p:spPr>
          <a:xfrm>
            <a:off x="5943600" y="3200400"/>
            <a:ext cx="1188720" cy="1188720"/>
          </a:xfrm>
          <a:prstGeom prst="ellipse">
            <a:avLst/>
          </a:prstGeom>
          <a:solidFill>
            <a:srgbClr val="FBF1DE"/>
          </a:solidFill>
          <a:ln w="12700">
            <a:solidFill>
              <a:srgbClr val="FBF1DE"/>
            </a:solidFill>
            <a:prstDash val="solid"/>
          </a:ln>
        </p:spPr>
      </p:sp>
      <p:sp>
        <p:nvSpPr>
          <p:cNvPr id="5" name="circle-4"/>
          <p:cNvSpPr/>
          <p:nvPr/>
        </p:nvSpPr>
        <p:spPr>
          <a:xfrm>
            <a:off x="7269480" y="685800"/>
            <a:ext cx="1645920" cy="1645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3878" y="1130198"/>
            <a:ext cx="757123" cy="757123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2344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Healthcare Admin Navigator</a:t>
            </a:r>
            <a:endParaRPr lang="en-US" sz="38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256032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2F6468"/>
                </a:solidFill>
              </a:rPr>
              <a:t>Helpful on admin questions, reliably safe on everything else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C9CA6"/>
                </a:solidFill>
              </a:rPr>
              <a:t>AI Agents Project · Evelyn Morales Martínez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it does, and where it stops</a:t>
            </a:r>
            <a:endParaRPr lang="en-US" sz="2600" dirty="0"/>
          </a:p>
        </p:txBody>
      </p:sp>
      <p:sp>
        <p:nvSpPr>
          <p:cNvPr id="3" name="card-6"/>
          <p:cNvSpPr/>
          <p:nvPr/>
        </p:nvSpPr>
        <p:spPr>
          <a:xfrm>
            <a:off x="457200" y="1005840"/>
            <a:ext cx="3017520" cy="2834640"/>
          </a:xfrm>
          <a:prstGeom prst="roundRect">
            <a:avLst>
              <a:gd name="adj" fmla="val 3871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4" name="txt-7"/>
          <p:cNvSpPr txBox="1"/>
          <p:nvPr/>
        </p:nvSpPr>
        <p:spPr>
          <a:xfrm>
            <a:off x="640080" y="1115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helps with</a:t>
            </a:r>
            <a:endParaRPr lang="en-US" sz="1600" dirty="0"/>
          </a:p>
        </p:txBody>
      </p:sp>
      <p:sp>
        <p:nvSpPr>
          <p:cNvPr id="5" name="circle-8"/>
          <p:cNvSpPr/>
          <p:nvPr/>
        </p:nvSpPr>
        <p:spPr>
          <a:xfrm>
            <a:off x="640080" y="15727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con-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773" y="1676461"/>
            <a:ext cx="176662" cy="176662"/>
          </a:xfrm>
          <a:prstGeom prst="rect">
            <a:avLst/>
          </a:prstGeom>
        </p:spPr>
      </p:pic>
      <p:sp>
        <p:nvSpPr>
          <p:cNvPr id="7" name="txt-10"/>
          <p:cNvSpPr txBox="1"/>
          <p:nvPr/>
        </p:nvSpPr>
        <p:spPr>
          <a:xfrm>
            <a:off x="1115568" y="15727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 coverage</a:t>
            </a:r>
            <a:endParaRPr lang="en-US" sz="1400" dirty="0"/>
          </a:p>
        </p:txBody>
      </p:sp>
      <p:sp>
        <p:nvSpPr>
          <p:cNvPr id="8" name="circle-11"/>
          <p:cNvSpPr/>
          <p:nvPr/>
        </p:nvSpPr>
        <p:spPr>
          <a:xfrm>
            <a:off x="640080" y="21214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con-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73" y="2225101"/>
            <a:ext cx="176662" cy="176662"/>
          </a:xfrm>
          <a:prstGeom prst="rect">
            <a:avLst/>
          </a:prstGeom>
        </p:spPr>
      </p:pic>
      <p:sp>
        <p:nvSpPr>
          <p:cNvPr id="10" name="txt-13"/>
          <p:cNvSpPr txBox="1"/>
          <p:nvPr/>
        </p:nvSpPr>
        <p:spPr>
          <a:xfrm>
            <a:off x="1115568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Bills</a:t>
            </a:r>
            <a:endParaRPr lang="en-US" sz="1400" dirty="0"/>
          </a:p>
        </p:txBody>
      </p:sp>
      <p:sp>
        <p:nvSpPr>
          <p:cNvPr id="11" name="circle-14"/>
          <p:cNvSpPr/>
          <p:nvPr/>
        </p:nvSpPr>
        <p:spPr>
          <a:xfrm>
            <a:off x="640080" y="26700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con-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" y="2773741"/>
            <a:ext cx="176662" cy="176662"/>
          </a:xfrm>
          <a:prstGeom prst="rect">
            <a:avLst/>
          </a:prstGeom>
        </p:spPr>
      </p:pic>
      <p:sp>
        <p:nvSpPr>
          <p:cNvPr id="13" name="txt-16"/>
          <p:cNvSpPr txBox="1"/>
          <p:nvPr/>
        </p:nvSpPr>
        <p:spPr>
          <a:xfrm>
            <a:off x="1115568" y="267004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Appointment preparation</a:t>
            </a:r>
            <a:endParaRPr lang="en-US" sz="1400" dirty="0"/>
          </a:p>
        </p:txBody>
      </p:sp>
      <p:sp>
        <p:nvSpPr>
          <p:cNvPr id="14" name="circle-17"/>
          <p:cNvSpPr/>
          <p:nvPr/>
        </p:nvSpPr>
        <p:spPr>
          <a:xfrm>
            <a:off x="640080" y="321868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con-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73" y="3322381"/>
            <a:ext cx="176662" cy="176662"/>
          </a:xfrm>
          <a:prstGeom prst="rect">
            <a:avLst/>
          </a:prstGeom>
        </p:spPr>
      </p:pic>
      <p:sp>
        <p:nvSpPr>
          <p:cNvPr id="16" name="txt-19"/>
          <p:cNvSpPr txBox="1"/>
          <p:nvPr/>
        </p:nvSpPr>
        <p:spPr>
          <a:xfrm>
            <a:off x="1115568" y="32186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right next step</a:t>
            </a:r>
            <a:endParaRPr lang="en-US" sz="1400" dirty="0"/>
          </a:p>
        </p:txBody>
      </p:sp>
      <p:sp>
        <p:nvSpPr>
          <p:cNvPr id="17" name="card-20"/>
          <p:cNvSpPr/>
          <p:nvPr/>
        </p:nvSpPr>
        <p:spPr>
          <a:xfrm>
            <a:off x="3749040" y="1005840"/>
            <a:ext cx="4937760" cy="621792"/>
          </a:xfrm>
          <a:prstGeom prst="roundRect">
            <a:avLst>
              <a:gd name="adj" fmla="val 17647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8" name="circle-21"/>
          <p:cNvSpPr/>
          <p:nvPr/>
        </p:nvSpPr>
        <p:spPr>
          <a:xfrm>
            <a:off x="3840480" y="109728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con-2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8986" y="1215786"/>
            <a:ext cx="201900" cy="201900"/>
          </a:xfrm>
          <a:prstGeom prst="rect">
            <a:avLst/>
          </a:prstGeom>
        </p:spPr>
      </p:pic>
      <p:sp>
        <p:nvSpPr>
          <p:cNvPr id="20" name="txt-23"/>
          <p:cNvSpPr txBox="1"/>
          <p:nvPr/>
        </p:nvSpPr>
        <p:spPr>
          <a:xfrm>
            <a:off x="4389120" y="10058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Urgent</a:t>
            </a:r>
            <a:endParaRPr lang="en-US" sz="1400" dirty="0"/>
          </a:p>
        </p:txBody>
      </p:sp>
      <p:sp>
        <p:nvSpPr>
          <p:cNvPr id="21" name="txt-24"/>
          <p:cNvSpPr txBox="1"/>
          <p:nvPr/>
        </p:nvSpPr>
        <p:spPr>
          <a:xfrm>
            <a:off x="6446520" y="100584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Call 112 or a crisis line now</a:t>
            </a:r>
            <a:endParaRPr lang="en-US" sz="1400" dirty="0"/>
          </a:p>
        </p:txBody>
      </p:sp>
      <p:sp>
        <p:nvSpPr>
          <p:cNvPr id="22" name="card-25"/>
          <p:cNvSpPr/>
          <p:nvPr/>
        </p:nvSpPr>
        <p:spPr>
          <a:xfrm>
            <a:off x="3749040" y="1737360"/>
            <a:ext cx="4937760" cy="621792"/>
          </a:xfrm>
          <a:prstGeom prst="roundRect">
            <a:avLst>
              <a:gd name="adj" fmla="val 17647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23" name="circle-26"/>
          <p:cNvSpPr/>
          <p:nvPr/>
        </p:nvSpPr>
        <p:spPr>
          <a:xfrm>
            <a:off x="3840480" y="182880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con-2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8986" y="1947306"/>
            <a:ext cx="201900" cy="201900"/>
          </a:xfrm>
          <a:prstGeom prst="rect">
            <a:avLst/>
          </a:prstGeom>
        </p:spPr>
      </p:pic>
      <p:sp>
        <p:nvSpPr>
          <p:cNvPr id="25" name="txt-28"/>
          <p:cNvSpPr txBox="1"/>
          <p:nvPr/>
        </p:nvSpPr>
        <p:spPr>
          <a:xfrm>
            <a:off x="4389120" y="17373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Medical question</a:t>
            </a:r>
            <a:endParaRPr lang="en-US" sz="1400" dirty="0"/>
          </a:p>
        </p:txBody>
      </p:sp>
      <p:sp>
        <p:nvSpPr>
          <p:cNvPr id="26" name="txt-29"/>
          <p:cNvSpPr txBox="1"/>
          <p:nvPr/>
        </p:nvSpPr>
        <p:spPr>
          <a:xfrm>
            <a:off x="6446520" y="17373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Redirect to a professional</a:t>
            </a:r>
            <a:endParaRPr lang="en-US" sz="1400" dirty="0"/>
          </a:p>
        </p:txBody>
      </p:sp>
      <p:sp>
        <p:nvSpPr>
          <p:cNvPr id="27" name="card-30"/>
          <p:cNvSpPr/>
          <p:nvPr/>
        </p:nvSpPr>
        <p:spPr>
          <a:xfrm>
            <a:off x="3749040" y="2468880"/>
            <a:ext cx="4937760" cy="621792"/>
          </a:xfrm>
          <a:prstGeom prst="roundRect">
            <a:avLst>
              <a:gd name="adj" fmla="val 17647"/>
            </a:avLst>
          </a:prstGeom>
          <a:solidFill>
            <a:srgbClr val="FBF1DE"/>
          </a:solidFill>
          <a:ln w="12700">
            <a:solidFill>
              <a:srgbClr val="FBF1DE"/>
            </a:solidFill>
            <a:prstDash val="solid"/>
          </a:ln>
        </p:spPr>
      </p:sp>
      <p:sp>
        <p:nvSpPr>
          <p:cNvPr id="28" name="circle-31"/>
          <p:cNvSpPr/>
          <p:nvPr/>
        </p:nvSpPr>
        <p:spPr>
          <a:xfrm>
            <a:off x="3840480" y="256032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con-3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8986" y="2678826"/>
            <a:ext cx="201900" cy="201900"/>
          </a:xfrm>
          <a:prstGeom prst="rect">
            <a:avLst/>
          </a:prstGeom>
        </p:spPr>
      </p:pic>
      <p:sp>
        <p:nvSpPr>
          <p:cNvPr id="30" name="txt-33"/>
          <p:cNvSpPr txBox="1"/>
          <p:nvPr/>
        </p:nvSpPr>
        <p:spPr>
          <a:xfrm>
            <a:off x="4389120" y="24688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Borderline admin</a:t>
            </a:r>
            <a:endParaRPr lang="en-US" sz="1400" dirty="0"/>
          </a:p>
        </p:txBody>
      </p:sp>
      <p:sp>
        <p:nvSpPr>
          <p:cNvPr id="31" name="txt-34"/>
          <p:cNvSpPr txBox="1"/>
          <p:nvPr/>
        </p:nvSpPr>
        <p:spPr>
          <a:xfrm>
            <a:off x="6446520" y="24688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 with a caveat</a:t>
            </a:r>
            <a:endParaRPr lang="en-US" sz="1400" dirty="0"/>
          </a:p>
        </p:txBody>
      </p:sp>
      <p:sp>
        <p:nvSpPr>
          <p:cNvPr id="32" name="card-35"/>
          <p:cNvSpPr/>
          <p:nvPr/>
        </p:nvSpPr>
        <p:spPr>
          <a:xfrm>
            <a:off x="3749040" y="3200400"/>
            <a:ext cx="4937760" cy="621792"/>
          </a:xfrm>
          <a:prstGeom prst="roundRect">
            <a:avLst>
              <a:gd name="adj" fmla="val 17647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33" name="circle-36"/>
          <p:cNvSpPr/>
          <p:nvPr/>
        </p:nvSpPr>
        <p:spPr>
          <a:xfrm>
            <a:off x="3840480" y="329184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con-3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8986" y="3410346"/>
            <a:ext cx="201900" cy="201900"/>
          </a:xfrm>
          <a:prstGeom prst="rect">
            <a:avLst/>
          </a:prstGeom>
        </p:spPr>
      </p:pic>
      <p:sp>
        <p:nvSpPr>
          <p:cNvPr id="35" name="txt-38"/>
          <p:cNvSpPr txBox="1"/>
          <p:nvPr/>
        </p:nvSpPr>
        <p:spPr>
          <a:xfrm>
            <a:off x="4389120" y="32004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 question</a:t>
            </a:r>
            <a:endParaRPr lang="en-US" sz="1400" dirty="0"/>
          </a:p>
        </p:txBody>
      </p:sp>
      <p:sp>
        <p:nvSpPr>
          <p:cNvPr id="36" name="txt-39"/>
          <p:cNvSpPr txBox="1"/>
          <p:nvPr/>
        </p:nvSpPr>
        <p:spPr>
          <a:xfrm>
            <a:off x="6446520" y="32004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 with citations</a:t>
            </a:r>
            <a:endParaRPr lang="en-US" sz="1400" dirty="0"/>
          </a:p>
        </p:txBody>
      </p:sp>
      <p:sp>
        <p:nvSpPr>
          <p:cNvPr id="37" name="circle-40"/>
          <p:cNvSpPr/>
          <p:nvPr/>
        </p:nvSpPr>
        <p:spPr>
          <a:xfrm>
            <a:off x="457200" y="4041648"/>
            <a:ext cx="475488" cy="475488"/>
          </a:xfrm>
          <a:prstGeom prst="ellipse">
            <a:avLst/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pic>
        <p:nvPicPr>
          <p:cNvPr id="38" name="icon-41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582" y="4170030"/>
            <a:ext cx="218724" cy="218724"/>
          </a:xfrm>
          <a:prstGeom prst="rect">
            <a:avLst/>
          </a:prstGeom>
        </p:spPr>
      </p:pic>
      <p:sp>
        <p:nvSpPr>
          <p:cNvPr id="39" name="txt-42"/>
          <p:cNvSpPr txBox="1"/>
          <p:nvPr/>
        </p:nvSpPr>
        <p:spPr>
          <a:xfrm>
            <a:off x="1051560" y="3995928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468"/>
                </a:solidFill>
              </a:rPr>
              <a:t>The test: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insurance document → answer; professional judgement → redirect. Urgency always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the data taught us</a:t>
            </a:r>
            <a:endParaRPr lang="en-US" sz="2600" dirty="0"/>
          </a:p>
        </p:txBody>
      </p:sp>
      <p:sp>
        <p:nvSpPr>
          <p:cNvPr id="3" name="card-43"/>
          <p:cNvSpPr/>
          <p:nvPr/>
        </p:nvSpPr>
        <p:spPr>
          <a:xfrm>
            <a:off x="457200" y="105156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4" name="circle-44"/>
          <p:cNvSpPr/>
          <p:nvPr/>
        </p:nvSpPr>
        <p:spPr>
          <a:xfrm>
            <a:off x="594360" y="11887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con-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148" y="1324508"/>
            <a:ext cx="231343" cy="231343"/>
          </a:xfrm>
          <a:prstGeom prst="rect">
            <a:avLst/>
          </a:prstGeom>
        </p:spPr>
      </p:pic>
      <p:sp>
        <p:nvSpPr>
          <p:cNvPr id="6" name="txt-46"/>
          <p:cNvSpPr txBox="1"/>
          <p:nvPr/>
        </p:nvSpPr>
        <p:spPr>
          <a:xfrm>
            <a:off x="59436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+ 3</a:t>
            </a:r>
            <a:endParaRPr lang="en-US" sz="2600" dirty="0"/>
          </a:p>
        </p:txBody>
      </p:sp>
      <p:sp>
        <p:nvSpPr>
          <p:cNvPr id="7" name="txt-47"/>
          <p:cNvSpPr txBox="1"/>
          <p:nvPr/>
        </p:nvSpPr>
        <p:spPr>
          <a:xfrm>
            <a:off x="594360" y="237744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numbers and rules where the plan summaries contradict the policies</a:t>
            </a:r>
            <a:endParaRPr lang="en-US" sz="1300" dirty="0"/>
          </a:p>
        </p:txBody>
      </p:sp>
      <p:sp>
        <p:nvSpPr>
          <p:cNvPr id="8" name="so-48"/>
          <p:cNvSpPr/>
          <p:nvPr/>
        </p:nvSpPr>
        <p:spPr>
          <a:xfrm>
            <a:off x="566928" y="3611880"/>
            <a:ext cx="170078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xt-49"/>
          <p:cNvSpPr txBox="1"/>
          <p:nvPr/>
        </p:nvSpPr>
        <p:spPr>
          <a:xfrm>
            <a:off x="658368" y="367588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9CA6"/>
                </a:solidFill>
              </a:rPr>
              <a:t>So the agent will: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6468"/>
                </a:solidFill>
              </a:rPr>
              <a:t>Use only the full policies</a:t>
            </a:r>
            <a:endParaRPr lang="en-US" sz="1300" dirty="0"/>
          </a:p>
        </p:txBody>
      </p:sp>
      <p:sp>
        <p:nvSpPr>
          <p:cNvPr id="10" name="card-50"/>
          <p:cNvSpPr/>
          <p:nvPr/>
        </p:nvSpPr>
        <p:spPr>
          <a:xfrm>
            <a:off x="2560320" y="105156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BF1DE"/>
          </a:solidFill>
          <a:ln w="12700">
            <a:solidFill>
              <a:srgbClr val="FBF1D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11" name="circle-51"/>
          <p:cNvSpPr/>
          <p:nvPr/>
        </p:nvSpPr>
        <p:spPr>
          <a:xfrm>
            <a:off x="2697480" y="11887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con-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268" y="1324508"/>
            <a:ext cx="231343" cy="231343"/>
          </a:xfrm>
          <a:prstGeom prst="rect">
            <a:avLst/>
          </a:prstGeom>
        </p:spPr>
      </p:pic>
      <p:sp>
        <p:nvSpPr>
          <p:cNvPr id="13" name="txt-53"/>
          <p:cNvSpPr txBox="1"/>
          <p:nvPr/>
        </p:nvSpPr>
        <p:spPr>
          <a:xfrm>
            <a:off x="269748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13</a:t>
            </a:r>
            <a:endParaRPr lang="en-US" sz="2600" dirty="0"/>
          </a:p>
        </p:txBody>
      </p:sp>
      <p:sp>
        <p:nvSpPr>
          <p:cNvPr id="14" name="txt-54"/>
          <p:cNvSpPr txBox="1"/>
          <p:nvPr/>
        </p:nvSpPr>
        <p:spPr>
          <a:xfrm>
            <a:off x="2697480" y="237744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insurer statements (EOBs) with wrong amounts</a:t>
            </a:r>
            <a:endParaRPr lang="en-US" sz="1300" dirty="0"/>
          </a:p>
        </p:txBody>
      </p:sp>
      <p:sp>
        <p:nvSpPr>
          <p:cNvPr id="15" name="so-55"/>
          <p:cNvSpPr/>
          <p:nvPr/>
        </p:nvSpPr>
        <p:spPr>
          <a:xfrm>
            <a:off x="2670048" y="3611880"/>
            <a:ext cx="170078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xt-56"/>
          <p:cNvSpPr txBox="1"/>
          <p:nvPr/>
        </p:nvSpPr>
        <p:spPr>
          <a:xfrm>
            <a:off x="2761488" y="367588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9CA6"/>
                </a:solidFill>
              </a:rPr>
              <a:t>So the agent will: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6468"/>
                </a:solidFill>
              </a:rPr>
              <a:t>Recompute every bill</a:t>
            </a:r>
            <a:endParaRPr lang="en-US" sz="1300" dirty="0"/>
          </a:p>
        </p:txBody>
      </p:sp>
      <p:sp>
        <p:nvSpPr>
          <p:cNvPr id="17" name="card-57"/>
          <p:cNvSpPr/>
          <p:nvPr/>
        </p:nvSpPr>
        <p:spPr>
          <a:xfrm>
            <a:off x="4663440" y="105156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18" name="circle-58"/>
          <p:cNvSpPr/>
          <p:nvPr/>
        </p:nvSpPr>
        <p:spPr>
          <a:xfrm>
            <a:off x="4800600" y="11887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con-5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1324508"/>
            <a:ext cx="231343" cy="231343"/>
          </a:xfrm>
          <a:prstGeom prst="rect">
            <a:avLst/>
          </a:prstGeom>
        </p:spPr>
      </p:pic>
      <p:sp>
        <p:nvSpPr>
          <p:cNvPr id="20" name="txt-60"/>
          <p:cNvSpPr txBox="1"/>
          <p:nvPr/>
        </p:nvSpPr>
        <p:spPr>
          <a:xfrm>
            <a:off x="480060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BP19</a:t>
            </a:r>
            <a:endParaRPr lang="en-US" sz="2600" dirty="0"/>
          </a:p>
        </p:txBody>
      </p:sp>
      <p:sp>
        <p:nvSpPr>
          <p:cNvPr id="21" name="txt-61"/>
          <p:cNvSpPr txBox="1"/>
          <p:nvPr/>
        </p:nvSpPr>
        <p:spPr>
          <a:xfrm>
            <a:off x="4800600" y="237744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"Should I book an appointment?" after chest pain: urgent, not admin</a:t>
            </a:r>
            <a:endParaRPr lang="en-US" sz="1300" dirty="0"/>
          </a:p>
        </p:txBody>
      </p:sp>
      <p:sp>
        <p:nvSpPr>
          <p:cNvPr id="22" name="so-62"/>
          <p:cNvSpPr/>
          <p:nvPr/>
        </p:nvSpPr>
        <p:spPr>
          <a:xfrm>
            <a:off x="4773168" y="3611880"/>
            <a:ext cx="170078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xt-63"/>
          <p:cNvSpPr txBox="1"/>
          <p:nvPr/>
        </p:nvSpPr>
        <p:spPr>
          <a:xfrm>
            <a:off x="4864608" y="367588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9CA6"/>
                </a:solidFill>
              </a:rPr>
              <a:t>So the agent will: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6468"/>
                </a:solidFill>
              </a:rPr>
              <a:t>Check urgency first</a:t>
            </a:r>
            <a:endParaRPr lang="en-US" sz="1300" dirty="0"/>
          </a:p>
        </p:txBody>
      </p:sp>
      <p:sp>
        <p:nvSpPr>
          <p:cNvPr id="24" name="card-64"/>
          <p:cNvSpPr/>
          <p:nvPr/>
        </p:nvSpPr>
        <p:spPr>
          <a:xfrm>
            <a:off x="6766560" y="105156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25" name="circle-65"/>
          <p:cNvSpPr/>
          <p:nvPr/>
        </p:nvSpPr>
        <p:spPr>
          <a:xfrm>
            <a:off x="6903720" y="11887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con-6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508" y="1324508"/>
            <a:ext cx="231343" cy="231343"/>
          </a:xfrm>
          <a:prstGeom prst="rect">
            <a:avLst/>
          </a:prstGeom>
        </p:spPr>
      </p:pic>
      <p:sp>
        <p:nvSpPr>
          <p:cNvPr id="27" name="txt-67"/>
          <p:cNvSpPr txBox="1"/>
          <p:nvPr/>
        </p:nvSpPr>
        <p:spPr>
          <a:xfrm>
            <a:off x="690372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of 15</a:t>
            </a:r>
            <a:endParaRPr lang="en-US" sz="2600" dirty="0"/>
          </a:p>
        </p:txBody>
      </p:sp>
      <p:sp>
        <p:nvSpPr>
          <p:cNvPr id="28" name="txt-68"/>
          <p:cNvSpPr txBox="1"/>
          <p:nvPr/>
        </p:nvSpPr>
        <p:spPr>
          <a:xfrm>
            <a:off x="6903720" y="237744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bills show date of birth and address</a:t>
            </a:r>
            <a:endParaRPr lang="en-US" sz="1300" dirty="0"/>
          </a:p>
        </p:txBody>
      </p:sp>
      <p:sp>
        <p:nvSpPr>
          <p:cNvPr id="29" name="so-69"/>
          <p:cNvSpPr/>
          <p:nvPr/>
        </p:nvSpPr>
        <p:spPr>
          <a:xfrm>
            <a:off x="6876288" y="3611880"/>
            <a:ext cx="170078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xt-70"/>
          <p:cNvSpPr txBox="1"/>
          <p:nvPr/>
        </p:nvSpPr>
        <p:spPr>
          <a:xfrm>
            <a:off x="6967728" y="3675888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9CA6"/>
                </a:solidFill>
              </a:rPr>
              <a:t>So the agent will: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6468"/>
                </a:solidFill>
              </a:rPr>
              <a:t>Keep them away from the LLM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How the assistant works</a:t>
            </a:r>
            <a:endParaRPr lang="en-US" sz="2600" dirty="0"/>
          </a:p>
        </p:txBody>
      </p:sp>
      <p:sp>
        <p:nvSpPr>
          <p:cNvPr id="3" name="card-71"/>
          <p:cNvSpPr/>
          <p:nvPr/>
        </p:nvSpPr>
        <p:spPr>
          <a:xfrm>
            <a:off x="457200" y="182880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4" name="circle-72"/>
          <p:cNvSpPr/>
          <p:nvPr/>
        </p:nvSpPr>
        <p:spPr>
          <a:xfrm>
            <a:off x="594360" y="21259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con-7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249424"/>
            <a:ext cx="210312" cy="210312"/>
          </a:xfrm>
          <a:prstGeom prst="rect">
            <a:avLst/>
          </a:prstGeom>
        </p:spPr>
      </p:pic>
      <p:sp>
        <p:nvSpPr>
          <p:cNvPr id="6" name="txt-74"/>
          <p:cNvSpPr txBox="1"/>
          <p:nvPr/>
        </p:nvSpPr>
        <p:spPr>
          <a:xfrm>
            <a:off x="1170432" y="1901952"/>
            <a:ext cx="10058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468"/>
                </a:solidFill>
              </a:rPr>
              <a:t>Message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plus member ID</a:t>
            </a:r>
            <a:endParaRPr lang="en-US" sz="1400" dirty="0"/>
          </a:p>
        </p:txBody>
      </p:sp>
      <p:sp>
        <p:nvSpPr>
          <p:cNvPr id="7" name="card-75"/>
          <p:cNvSpPr/>
          <p:nvPr/>
        </p:nvSpPr>
        <p:spPr>
          <a:xfrm>
            <a:off x="2651760" y="169164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8" name="circle-76"/>
          <p:cNvSpPr/>
          <p:nvPr/>
        </p:nvSpPr>
        <p:spPr>
          <a:xfrm>
            <a:off x="2788920" y="21259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con-7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364" y="2249424"/>
            <a:ext cx="210312" cy="210312"/>
          </a:xfrm>
          <a:prstGeom prst="rect">
            <a:avLst/>
          </a:prstGeom>
        </p:spPr>
      </p:pic>
      <p:sp>
        <p:nvSpPr>
          <p:cNvPr id="10" name="txt-78"/>
          <p:cNvSpPr txBox="1"/>
          <p:nvPr/>
        </p:nvSpPr>
        <p:spPr>
          <a:xfrm>
            <a:off x="3364992" y="1764792"/>
            <a:ext cx="11430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468"/>
                </a:solidFill>
              </a:rPr>
              <a:t>Scope guard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1. keyword net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 LLM classifier</a:t>
            </a:r>
            <a:endParaRPr lang="en-US" sz="1400" dirty="0"/>
          </a:p>
        </p:txBody>
      </p:sp>
      <p:sp>
        <p:nvSpPr>
          <p:cNvPr id="11" name="card-79"/>
          <p:cNvSpPr/>
          <p:nvPr/>
        </p:nvSpPr>
        <p:spPr>
          <a:xfrm>
            <a:off x="4983480" y="960120"/>
            <a:ext cx="3703320" cy="1005840"/>
          </a:xfrm>
          <a:prstGeom prst="roundRect">
            <a:avLst>
              <a:gd name="adj" fmla="val 10909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12" name="circle-80"/>
          <p:cNvSpPr/>
          <p:nvPr/>
        </p:nvSpPr>
        <p:spPr>
          <a:xfrm>
            <a:off x="5120640" y="1234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con-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084" y="1357884"/>
            <a:ext cx="210312" cy="210312"/>
          </a:xfrm>
          <a:prstGeom prst="rect">
            <a:avLst/>
          </a:prstGeom>
        </p:spPr>
      </p:pic>
      <p:sp>
        <p:nvSpPr>
          <p:cNvPr id="14" name="txt-82"/>
          <p:cNvSpPr txBox="1"/>
          <p:nvPr/>
        </p:nvSpPr>
        <p:spPr>
          <a:xfrm>
            <a:off x="5696712" y="1033272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468"/>
                </a:solidFill>
              </a:rPr>
              <a:t>Urgent or medical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texts written in advance, no LLM</a:t>
            </a:r>
            <a:endParaRPr lang="en-US" sz="1400" dirty="0"/>
          </a:p>
        </p:txBody>
      </p:sp>
      <p:sp>
        <p:nvSpPr>
          <p:cNvPr id="15" name="card-83"/>
          <p:cNvSpPr/>
          <p:nvPr/>
        </p:nvSpPr>
        <p:spPr>
          <a:xfrm>
            <a:off x="4983480" y="219456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16" name="circle-84"/>
          <p:cNvSpPr/>
          <p:nvPr/>
        </p:nvSpPr>
        <p:spPr>
          <a:xfrm>
            <a:off x="5120640" y="26517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con-8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084" y="2775204"/>
            <a:ext cx="210312" cy="210312"/>
          </a:xfrm>
          <a:prstGeom prst="rect">
            <a:avLst/>
          </a:prstGeom>
        </p:spPr>
      </p:pic>
      <p:sp>
        <p:nvSpPr>
          <p:cNvPr id="18" name="txt-86"/>
          <p:cNvSpPr txBox="1"/>
          <p:nvPr/>
        </p:nvSpPr>
        <p:spPr>
          <a:xfrm>
            <a:off x="5696712" y="2267712"/>
            <a:ext cx="2880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468"/>
                </a:solidFill>
              </a:rPr>
              <a:t>Admin answer (RAG)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member's own policy + facts computed in Python → LLM answer with citations like [S4.7]</a:t>
            </a:r>
            <a:endParaRPr lang="en-US" sz="1400" dirty="0"/>
          </a:p>
        </p:txBody>
      </p:sp>
      <p:sp>
        <p:nvSpPr>
          <p:cNvPr id="19" name="arrow-87"/>
          <p:cNvSpPr/>
          <p:nvPr/>
        </p:nvSpPr>
        <p:spPr>
          <a:xfrm>
            <a:off x="2286000" y="2350008"/>
            <a:ext cx="365760" cy="0"/>
          </a:xfrm>
          <a:prstGeom prst="line">
            <a:avLst/>
          </a:prstGeom>
          <a:noFill/>
          <a:ln w="22225">
            <a:solidFill>
              <a:srgbClr val="8C9CA6"/>
            </a:solidFill>
            <a:prstDash val="solid"/>
            <a:tailEnd type="triangle"/>
          </a:ln>
        </p:spPr>
      </p:sp>
      <p:sp>
        <p:nvSpPr>
          <p:cNvPr id="20" name="arrow-88"/>
          <p:cNvSpPr/>
          <p:nvPr/>
        </p:nvSpPr>
        <p:spPr>
          <a:xfrm flipV="1">
            <a:off x="4617720" y="1463040"/>
            <a:ext cx="365760" cy="777240"/>
          </a:xfrm>
          <a:prstGeom prst="line">
            <a:avLst/>
          </a:prstGeom>
          <a:noFill/>
          <a:ln w="22225">
            <a:solidFill>
              <a:srgbClr val="8C9CA6"/>
            </a:solidFill>
            <a:prstDash val="solid"/>
            <a:tailEnd type="triangle"/>
          </a:ln>
        </p:spPr>
      </p:sp>
      <p:sp>
        <p:nvSpPr>
          <p:cNvPr id="21" name="arrow-89"/>
          <p:cNvSpPr/>
          <p:nvPr/>
        </p:nvSpPr>
        <p:spPr>
          <a:xfrm>
            <a:off x="4617720" y="2514600"/>
            <a:ext cx="365760" cy="365760"/>
          </a:xfrm>
          <a:prstGeom prst="line">
            <a:avLst/>
          </a:prstGeom>
          <a:noFill/>
          <a:ln w="22225">
            <a:solidFill>
              <a:srgbClr val="8C9CA6"/>
            </a:solidFill>
            <a:prstDash val="solid"/>
            <a:tailEnd type="triangle"/>
          </a:ln>
        </p:spPr>
      </p:sp>
      <p:sp>
        <p:nvSpPr>
          <p:cNvPr id="22" name="txt-90"/>
          <p:cNvSpPr txBox="1"/>
          <p:nvPr/>
        </p:nvSpPr>
        <p:spPr>
          <a:xfrm>
            <a:off x="457200" y="3794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Every refusal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C9CA6"/>
                </a:solidFill>
              </a:rPr>
              <a:t>(example: a dose)</a:t>
            </a:r>
            <a:endParaRPr lang="en-US" sz="1400" dirty="0"/>
          </a:p>
        </p:txBody>
      </p:sp>
      <p:sp>
        <p:nvSpPr>
          <p:cNvPr id="23" name="card-91"/>
          <p:cNvSpPr/>
          <p:nvPr/>
        </p:nvSpPr>
        <p:spPr>
          <a:xfrm>
            <a:off x="1920240" y="379476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4" name="txt-92"/>
          <p:cNvSpPr txBox="1"/>
          <p:nvPr/>
        </p:nvSpPr>
        <p:spPr>
          <a:xfrm>
            <a:off x="2029968" y="3794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468"/>
                </a:solidFill>
              </a:rPr>
              <a:t>1. What I can't do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“I can't recommend doses.”</a:t>
            </a:r>
            <a:endParaRPr lang="en-US" sz="1300" dirty="0"/>
          </a:p>
        </p:txBody>
      </p:sp>
      <p:sp>
        <p:nvSpPr>
          <p:cNvPr id="25" name="card-93"/>
          <p:cNvSpPr/>
          <p:nvPr/>
        </p:nvSpPr>
        <p:spPr>
          <a:xfrm>
            <a:off x="4206240" y="379476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6" name="txt-94"/>
          <p:cNvSpPr txBox="1"/>
          <p:nvPr/>
        </p:nvSpPr>
        <p:spPr>
          <a:xfrm>
            <a:off x="4315968" y="3794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468"/>
                </a:solidFill>
              </a:rPr>
              <a:t>2. Who can help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“A pharmacist can help right away.”</a:t>
            </a:r>
            <a:endParaRPr lang="en-US" sz="1300" dirty="0"/>
          </a:p>
        </p:txBody>
      </p:sp>
      <p:sp>
        <p:nvSpPr>
          <p:cNvPr id="27" name="card-95"/>
          <p:cNvSpPr/>
          <p:nvPr/>
        </p:nvSpPr>
        <p:spPr>
          <a:xfrm>
            <a:off x="6492240" y="379476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8" name="txt-96"/>
          <p:cNvSpPr txBox="1"/>
          <p:nvPr/>
        </p:nvSpPr>
        <p:spPr>
          <a:xfrm>
            <a:off x="6601968" y="3794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468"/>
                </a:solidFill>
              </a:rPr>
              <a:t>3. What I can do instead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“I can check if it's covered.”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Results: safe first, then correct</a:t>
            </a:r>
            <a:endParaRPr lang="en-US" sz="2600" dirty="0"/>
          </a:p>
        </p:txBody>
      </p:sp>
      <p:sp>
        <p:nvSpPr>
          <p:cNvPr id="3" name="txt-97"/>
          <p:cNvSpPr txBox="1"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Scope guard · 33 test messages</a:t>
            </a:r>
            <a:endParaRPr lang="en-US" sz="1400" dirty="0"/>
          </a:p>
        </p:txBody>
      </p:sp>
      <p:sp>
        <p:nvSpPr>
          <p:cNvPr id="4" name="card-98"/>
          <p:cNvSpPr/>
          <p:nvPr/>
        </p:nvSpPr>
        <p:spPr>
          <a:xfrm>
            <a:off x="457200" y="1298448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5" name="txt-99"/>
          <p:cNvSpPr txBox="1"/>
          <p:nvPr/>
        </p:nvSpPr>
        <p:spPr>
          <a:xfrm>
            <a:off x="54864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600" dirty="0"/>
          </a:p>
        </p:txBody>
      </p:sp>
      <p:sp>
        <p:nvSpPr>
          <p:cNvPr id="6" name="txt-100"/>
          <p:cNvSpPr txBox="1"/>
          <p:nvPr/>
        </p:nvSpPr>
        <p:spPr>
          <a:xfrm>
            <a:off x="548640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accuracy</a:t>
            </a:r>
            <a:endParaRPr lang="en-US" sz="1200" dirty="0"/>
          </a:p>
        </p:txBody>
      </p:sp>
      <p:sp>
        <p:nvSpPr>
          <p:cNvPr id="7" name="card-101"/>
          <p:cNvSpPr/>
          <p:nvPr/>
        </p:nvSpPr>
        <p:spPr>
          <a:xfrm>
            <a:off x="2468880" y="1298448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8" name="txt-102"/>
          <p:cNvSpPr txBox="1"/>
          <p:nvPr/>
        </p:nvSpPr>
        <p:spPr>
          <a:xfrm>
            <a:off x="256032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2600" dirty="0"/>
          </a:p>
        </p:txBody>
      </p:sp>
      <p:sp>
        <p:nvSpPr>
          <p:cNvPr id="9" name="txt-103"/>
          <p:cNvSpPr txBox="1"/>
          <p:nvPr/>
        </p:nvSpPr>
        <p:spPr>
          <a:xfrm>
            <a:off x="2560320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urgent caught</a:t>
            </a:r>
            <a:endParaRPr lang="en-US" sz="1200" dirty="0"/>
          </a:p>
        </p:txBody>
      </p:sp>
      <p:sp>
        <p:nvSpPr>
          <p:cNvPr id="10" name="card-104"/>
          <p:cNvSpPr/>
          <p:nvPr/>
        </p:nvSpPr>
        <p:spPr>
          <a:xfrm>
            <a:off x="457200" y="2395728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11" name="txt-105"/>
          <p:cNvSpPr txBox="1"/>
          <p:nvPr/>
        </p:nvSpPr>
        <p:spPr>
          <a:xfrm>
            <a:off x="54864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13/13</a:t>
            </a:r>
            <a:endParaRPr lang="en-US" sz="2600" dirty="0"/>
          </a:p>
        </p:txBody>
      </p:sp>
      <p:sp>
        <p:nvSpPr>
          <p:cNvPr id="12" name="txt-106"/>
          <p:cNvSpPr txBox="1"/>
          <p:nvPr/>
        </p:nvSpPr>
        <p:spPr>
          <a:xfrm>
            <a:off x="54864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medical redirected</a:t>
            </a:r>
            <a:endParaRPr lang="en-US" sz="1200" dirty="0"/>
          </a:p>
        </p:txBody>
      </p:sp>
      <p:sp>
        <p:nvSpPr>
          <p:cNvPr id="13" name="card-107"/>
          <p:cNvSpPr/>
          <p:nvPr/>
        </p:nvSpPr>
        <p:spPr>
          <a:xfrm>
            <a:off x="2468880" y="2395728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14" name="txt-108"/>
          <p:cNvSpPr txBox="1"/>
          <p:nvPr/>
        </p:nvSpPr>
        <p:spPr>
          <a:xfrm>
            <a:off x="256032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xt-109"/>
          <p:cNvSpPr txBox="1"/>
          <p:nvPr/>
        </p:nvSpPr>
        <p:spPr>
          <a:xfrm>
            <a:off x="256032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safety-critical errors</a:t>
            </a:r>
            <a:endParaRPr lang="en-US" sz="1200" dirty="0"/>
          </a:p>
        </p:txBody>
      </p:sp>
      <p:sp>
        <p:nvSpPr>
          <p:cNvPr id="16" name="txt-110"/>
          <p:cNvSpPr txBox="1"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Policy questions · 16 questions</a:t>
            </a:r>
            <a:endParaRPr lang="en-US" sz="1400" dirty="0"/>
          </a:p>
        </p:txBody>
      </p:sp>
      <p:sp>
        <p:nvSpPr>
          <p:cNvPr id="17" name="card-111"/>
          <p:cNvSpPr/>
          <p:nvPr/>
        </p:nvSpPr>
        <p:spPr>
          <a:xfrm>
            <a:off x="4754880" y="1298448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18" name="txt-112"/>
          <p:cNvSpPr txBox="1"/>
          <p:nvPr/>
        </p:nvSpPr>
        <p:spPr>
          <a:xfrm>
            <a:off x="4892040" y="129844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200" dirty="0"/>
          </a:p>
        </p:txBody>
      </p:sp>
      <p:sp>
        <p:nvSpPr>
          <p:cNvPr id="19" name="txt-113"/>
          <p:cNvSpPr txBox="1"/>
          <p:nvPr/>
        </p:nvSpPr>
        <p:spPr>
          <a:xfrm>
            <a:off x="5897880" y="129844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correct (human review)</a:t>
            </a:r>
            <a:endParaRPr lang="en-US" sz="1400" dirty="0"/>
          </a:p>
        </p:txBody>
      </p:sp>
      <p:sp>
        <p:nvSpPr>
          <p:cNvPr id="20" name="card-114"/>
          <p:cNvSpPr/>
          <p:nvPr/>
        </p:nvSpPr>
        <p:spPr>
          <a:xfrm>
            <a:off x="4754880" y="2029968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21" name="txt-115"/>
          <p:cNvSpPr txBox="1"/>
          <p:nvPr/>
        </p:nvSpPr>
        <p:spPr>
          <a:xfrm>
            <a:off x="4892040" y="202996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200" dirty="0"/>
          </a:p>
        </p:txBody>
      </p:sp>
      <p:sp>
        <p:nvSpPr>
          <p:cNvPr id="22" name="txt-116"/>
          <p:cNvSpPr txBox="1"/>
          <p:nvPr/>
        </p:nvSpPr>
        <p:spPr>
          <a:xfrm>
            <a:off x="5897880" y="202996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right section found</a:t>
            </a:r>
            <a:endParaRPr lang="en-US" sz="1400" dirty="0"/>
          </a:p>
        </p:txBody>
      </p:sp>
      <p:sp>
        <p:nvSpPr>
          <p:cNvPr id="23" name="card-117"/>
          <p:cNvSpPr/>
          <p:nvPr/>
        </p:nvSpPr>
        <p:spPr>
          <a:xfrm>
            <a:off x="4754880" y="2761488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24" name="txt-118"/>
          <p:cNvSpPr txBox="1"/>
          <p:nvPr/>
        </p:nvSpPr>
        <p:spPr>
          <a:xfrm>
            <a:off x="4892040" y="276148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2200" dirty="0"/>
          </a:p>
        </p:txBody>
      </p:sp>
      <p:sp>
        <p:nvSpPr>
          <p:cNvPr id="25" name="txt-119"/>
          <p:cNvSpPr txBox="1"/>
          <p:nvPr/>
        </p:nvSpPr>
        <p:spPr>
          <a:xfrm>
            <a:off x="5897880" y="276148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right section cited</a:t>
            </a:r>
            <a:endParaRPr lang="en-US" sz="1400" dirty="0"/>
          </a:p>
        </p:txBody>
      </p:sp>
      <p:sp>
        <p:nvSpPr>
          <p:cNvPr id="26" name="card-120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BF1DE"/>
          </a:solidFill>
          <a:ln w="12700">
            <a:solidFill>
              <a:srgbClr val="FBF1DE"/>
            </a:solidFill>
            <a:prstDash val="solid"/>
          </a:ln>
        </p:spPr>
      </p:sp>
      <p:sp>
        <p:nvSpPr>
          <p:cNvPr id="27" name="txt-121"/>
          <p:cNvSpPr txBox="1"/>
          <p:nvPr/>
        </p:nvSpPr>
        <p:spPr>
          <a:xfrm>
            <a:off x="621792" y="3657600"/>
            <a:ext cx="7909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468"/>
                </a:solidFill>
              </a:rPr>
              <a:t>Errors: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2 borderline caveat cases, in opposite directions; one answer missed a key condition; and the automatic LLM judge was wrong once, so every result was reviewed by hand.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Testing the refusals, and protecting the data</a:t>
            </a:r>
            <a:endParaRPr lang="en-US" sz="2600" dirty="0"/>
          </a:p>
        </p:txBody>
      </p:sp>
      <p:sp>
        <p:nvSpPr>
          <p:cNvPr id="3" name="card-122"/>
          <p:cNvSpPr/>
          <p:nvPr/>
        </p:nvSpPr>
        <p:spPr>
          <a:xfrm>
            <a:off x="457200" y="96012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4" name="circle-123"/>
          <p:cNvSpPr/>
          <p:nvPr/>
        </p:nvSpPr>
        <p:spPr>
          <a:xfrm>
            <a:off x="640080" y="10972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con-1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225662"/>
            <a:ext cx="218724" cy="218724"/>
          </a:xfrm>
          <a:prstGeom prst="rect">
            <a:avLst/>
          </a:prstGeom>
        </p:spPr>
      </p:pic>
      <p:sp>
        <p:nvSpPr>
          <p:cNvPr id="6" name="txt-125"/>
          <p:cNvSpPr txBox="1"/>
          <p:nvPr/>
        </p:nvSpPr>
        <p:spPr>
          <a:xfrm>
            <a:off x="1234440" y="10972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 test</a:t>
            </a:r>
            <a:endParaRPr lang="en-US" sz="1600" dirty="0"/>
          </a:p>
        </p:txBody>
      </p:sp>
      <p:sp>
        <p:nvSpPr>
          <p:cNvPr id="7" name="txt-126"/>
          <p:cNvSpPr txBox="1"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Simulated: 3 personas played by an LLM, not real users</a:t>
            </a:r>
            <a:endParaRPr lang="en-US" sz="1200" dirty="0"/>
          </a:p>
        </p:txBody>
      </p:sp>
      <p:sp>
        <p:nvSpPr>
          <p:cNvPr id="8" name="txt-127"/>
          <p:cNvSpPr txBox="1"/>
          <p:nvPr/>
        </p:nvSpPr>
        <p:spPr>
          <a:xfrm>
            <a:off x="640080" y="20116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6468"/>
                </a:solidFill>
              </a:rPr>
              <a:t>Version 1 felt frustrating: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1.7 out of 5 on average.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6468"/>
                </a:solidFill>
              </a:rPr>
              <a:t>5 of 9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suggestions asked for a dose or a diagnosis: feedback is filtered through the safety rules.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6468"/>
                </a:solidFill>
              </a:rPr>
              <a:t>Urgent message: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saying that emergency care is covered raised its rating from 2.0 to 4.0 and 3.7 in two runs.</a:t>
            </a:r>
            <a:endParaRPr lang="en-US" sz="1300" dirty="0"/>
          </a:p>
        </p:txBody>
      </p:sp>
      <p:sp>
        <p:nvSpPr>
          <p:cNvPr id="9" name="card-128"/>
          <p:cNvSpPr/>
          <p:nvPr/>
        </p:nvSpPr>
        <p:spPr>
          <a:xfrm>
            <a:off x="4663440" y="96012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1">
                <a:alpha val="25000"/>
              </a:srgbClr>
            </a:outerShdw>
          </a:effectLst>
        </p:spPr>
      </p:sp>
      <p:sp>
        <p:nvSpPr>
          <p:cNvPr id="10" name="circle-129"/>
          <p:cNvSpPr/>
          <p:nvPr/>
        </p:nvSpPr>
        <p:spPr>
          <a:xfrm>
            <a:off x="4846320" y="10972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con-1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702" y="1225662"/>
            <a:ext cx="218724" cy="218724"/>
          </a:xfrm>
          <a:prstGeom prst="rect">
            <a:avLst/>
          </a:prstGeom>
        </p:spPr>
      </p:pic>
      <p:sp>
        <p:nvSpPr>
          <p:cNvPr id="12" name="txt-131"/>
          <p:cNvSpPr txBox="1"/>
          <p:nvPr/>
        </p:nvSpPr>
        <p:spPr>
          <a:xfrm>
            <a:off x="5440680" y="10972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design</a:t>
            </a:r>
            <a:endParaRPr lang="en-US" sz="1600" dirty="0"/>
          </a:p>
        </p:txBody>
      </p:sp>
      <p:sp>
        <p:nvSpPr>
          <p:cNvPr id="13" name="txt-132"/>
          <p:cNvSpPr txBox="1"/>
          <p:nvPr/>
        </p:nvSpPr>
        <p:spPr>
          <a:xfrm>
            <a:off x="4846320" y="1691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Health data is special category data (GDPR Art. 9)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 flow: only the question, policy text and facts needed for the answer go to the LLM. Never name, date of birth or address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Retention: the app stores no conversations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Production: data processing agreement and EU hosting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133"/>
          <p:cNvSpPr/>
          <p:nvPr/>
        </p:nvSpPr>
        <p:spPr>
          <a:xfrm>
            <a:off x="6309360" y="-822960"/>
            <a:ext cx="3840480" cy="3840480"/>
          </a:xfrm>
          <a:prstGeom prst="ellipse">
            <a:avLst/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3" name="deco-134"/>
          <p:cNvSpPr/>
          <p:nvPr/>
        </p:nvSpPr>
        <p:spPr>
          <a:xfrm>
            <a:off x="7223760" y="2651760"/>
            <a:ext cx="2377440" cy="2377440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4" name="deco-135"/>
          <p:cNvSpPr/>
          <p:nvPr/>
        </p:nvSpPr>
        <p:spPr>
          <a:xfrm>
            <a:off x="5943600" y="3200400"/>
            <a:ext cx="1188720" cy="1188720"/>
          </a:xfrm>
          <a:prstGeom prst="ellipse">
            <a:avLst/>
          </a:prstGeom>
          <a:solidFill>
            <a:srgbClr val="FBF1DE"/>
          </a:solidFill>
          <a:ln w="12700">
            <a:solidFill>
              <a:srgbClr val="FBF1DE"/>
            </a:solidFill>
            <a:prstDash val="solid"/>
          </a:ln>
        </p:spPr>
      </p:sp>
      <p:sp>
        <p:nvSpPr>
          <p:cNvPr id="5" name="circle-136"/>
          <p:cNvSpPr/>
          <p:nvPr/>
        </p:nvSpPr>
        <p:spPr>
          <a:xfrm>
            <a:off x="7269480" y="685800"/>
            <a:ext cx="1645920" cy="1645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con-13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3878" y="1130198"/>
            <a:ext cx="757123" cy="757123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2344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Live demo</a:t>
            </a:r>
            <a:endParaRPr lang="en-US" sz="3800" dirty="0"/>
          </a:p>
        </p:txBody>
      </p:sp>
      <p:sp>
        <p:nvSpPr>
          <p:cNvPr id="8" name="circle-138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con-1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57" y="2699857"/>
            <a:ext cx="159837" cy="159837"/>
          </a:xfrm>
          <a:prstGeom prst="rect">
            <a:avLst/>
          </a:prstGeom>
        </p:spPr>
      </p:pic>
      <p:sp>
        <p:nvSpPr>
          <p:cNvPr id="10" name="txt-140"/>
          <p:cNvSpPr txBox="1"/>
          <p:nvPr/>
        </p:nvSpPr>
        <p:spPr>
          <a:xfrm>
            <a:off x="100584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1. Coverage question</a:t>
            </a:r>
            <a:endParaRPr lang="en-US" sz="1500" dirty="0"/>
          </a:p>
        </p:txBody>
      </p:sp>
      <p:sp>
        <p:nvSpPr>
          <p:cNvPr id="11" name="circle-141"/>
          <p:cNvSpPr/>
          <p:nvPr/>
        </p:nvSpPr>
        <p:spPr>
          <a:xfrm>
            <a:off x="548640" y="303580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con-14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7" y="3129625"/>
            <a:ext cx="159837" cy="159837"/>
          </a:xfrm>
          <a:prstGeom prst="rect">
            <a:avLst/>
          </a:prstGeom>
        </p:spPr>
      </p:pic>
      <p:sp>
        <p:nvSpPr>
          <p:cNvPr id="13" name="txt-143"/>
          <p:cNvSpPr txBox="1"/>
          <p:nvPr/>
        </p:nvSpPr>
        <p:spPr>
          <a:xfrm>
            <a:off x="1005840" y="3035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2. Bill explanation</a:t>
            </a:r>
            <a:endParaRPr lang="en-US" sz="1500" dirty="0"/>
          </a:p>
        </p:txBody>
      </p:sp>
      <p:sp>
        <p:nvSpPr>
          <p:cNvPr id="14" name="circle-144"/>
          <p:cNvSpPr/>
          <p:nvPr/>
        </p:nvSpPr>
        <p:spPr>
          <a:xfrm>
            <a:off x="548640" y="3465576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con-14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7" y="3559393"/>
            <a:ext cx="159837" cy="159837"/>
          </a:xfrm>
          <a:prstGeom prst="rect">
            <a:avLst/>
          </a:prstGeom>
        </p:spPr>
      </p:pic>
      <p:sp>
        <p:nvSpPr>
          <p:cNvPr id="16" name="txt-146"/>
          <p:cNvSpPr txBox="1"/>
          <p:nvPr/>
        </p:nvSpPr>
        <p:spPr>
          <a:xfrm>
            <a:off x="1005840" y="34655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3. Appointment preparation</a:t>
            </a:r>
            <a:endParaRPr lang="en-US" sz="1500" dirty="0"/>
          </a:p>
        </p:txBody>
      </p:sp>
      <p:sp>
        <p:nvSpPr>
          <p:cNvPr id="17" name="circle-147"/>
          <p:cNvSpPr/>
          <p:nvPr/>
        </p:nvSpPr>
        <p:spPr>
          <a:xfrm>
            <a:off x="548640" y="389534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con-14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57" y="3989161"/>
            <a:ext cx="159837" cy="159837"/>
          </a:xfrm>
          <a:prstGeom prst="rect">
            <a:avLst/>
          </a:prstGeom>
        </p:spPr>
      </p:pic>
      <p:sp>
        <p:nvSpPr>
          <p:cNvPr id="19" name="txt-149"/>
          <p:cNvSpPr txBox="1"/>
          <p:nvPr/>
        </p:nvSpPr>
        <p:spPr>
          <a:xfrm>
            <a:off x="1005840" y="38953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4. Out-of-scope request</a:t>
            </a:r>
            <a:endParaRPr lang="en-US" sz="1500" dirty="0"/>
          </a:p>
        </p:txBody>
      </p:sp>
      <p:sp>
        <p:nvSpPr>
          <p:cNvPr id="20" name="circle-150"/>
          <p:cNvSpPr/>
          <p:nvPr/>
        </p:nvSpPr>
        <p:spPr>
          <a:xfrm>
            <a:off x="548640" y="432511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con-15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57" y="4418929"/>
            <a:ext cx="159837" cy="159837"/>
          </a:xfrm>
          <a:prstGeom prst="rect">
            <a:avLst/>
          </a:prstGeom>
        </p:spPr>
      </p:pic>
      <p:sp>
        <p:nvSpPr>
          <p:cNvPr id="22" name="txt-152"/>
          <p:cNvSpPr txBox="1"/>
          <p:nvPr/>
        </p:nvSpPr>
        <p:spPr>
          <a:xfrm>
            <a:off x="1005840" y="4325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5. Urgent message</a:t>
            </a:r>
            <a:endParaRPr lang="en-US" sz="15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548640" y="256032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Admin Navigator Light">
  <a:themeElements>
    <a:clrScheme name="Admin Navigator Light">
      <a:dk1>
        <a:srgbClr val="34434B"/>
      </a:dk1>
      <a:lt1>
        <a:srgbClr val="FFFFFF"/>
      </a:lt1>
      <a:dk2>
        <a:srgbClr val="2F6468"/>
      </a:dk2>
      <a:lt2>
        <a:srgbClr val="F4F8F7"/>
      </a:lt2>
      <a:accent1>
        <a:srgbClr val="5FA8A3"/>
      </a:accent1>
      <a:accent2>
        <a:srgbClr val="E0897A"/>
      </a:accent2>
      <a:accent3>
        <a:srgbClr val="E3B35E"/>
      </a:accent3>
      <a:accent4>
        <a:srgbClr val="7DB096"/>
      </a:accent4>
      <a:accent5>
        <a:srgbClr val="8C9CA6"/>
      </a:accent5>
      <a:accent6>
        <a:srgbClr val="DCEDEA"/>
      </a:accent6>
      <a:hlink>
        <a:srgbClr val="5FA8A3"/>
      </a:hlink>
      <a:folHlink>
        <a:srgbClr val="8C9CA6"/>
      </a:folHlink>
    </a:clrScheme>
    <a:fontScheme name="Admin Navigator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Admin Navigator</dc:title>
  <dc:subject>PptxGenJS Presentation</dc:subject>
  <dc:creator>Evelyn Morales Martinez</dc:creator>
  <cp:lastModifiedBy>Evelyn Morales Martinez</cp:lastModifiedBy>
  <cp:revision>1</cp:revision>
  <dcterms:created xsi:type="dcterms:W3CDTF">2026-10-15T12:42:10Z</dcterms:created>
  <dcterms:modified xsi:type="dcterms:W3CDTF">2026-10-15T12:42:10Z</dcterms:modified>
</cp:coreProperties>
</file>